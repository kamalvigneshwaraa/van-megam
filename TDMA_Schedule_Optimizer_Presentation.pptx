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7680960" cy="2103120"/>
          </a:xfrm>
          <a:prstGeom prst="roundRect">
            <a:avLst/>
          </a:prstGeom>
          <a:solidFill>
            <a:srgbClr val="1E379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TDMA Network Schedule Planner &amp; Optimizer</a:t>
            </a:r>
          </a:p>
          <a:p>
            <a:pPr algn="ctr">
              <a:defRPr sz="1400">
                <a:solidFill>
                  <a:srgbClr val="F1F2F6"/>
                </a:solidFill>
                <a:latin typeface="Arial"/>
              </a:defRPr>
            </a:pPr>
            <a:r>
              <a:t>Wireless Protocol Development Technical Internship Challenge</a:t>
            </a:r>
          </a:p>
          <a:p>
            <a:pPr algn="ctr">
              <a:defRPr sz="1100" i="1">
                <a:solidFill>
                  <a:srgbClr val="C8D6E5"/>
                </a:solidFill>
                <a:latin typeface="Arial"/>
              </a:defRPr>
            </a:pPr>
            <a:r>
              <a:t>Vaan Megam Networks Private Limited (VMN), Chennai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6400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300" b="1">
                <a:solidFill>
                  <a:srgbClr val="1E3799"/>
                </a:solidFill>
                <a:latin typeface="Arial"/>
              </a:defRPr>
            </a:pPr>
            <a:r>
              <a:t>STUDENT PRESENTER DETAILS</a:t>
            </a:r>
          </a:p>
          <a:p>
            <a:r>
              <a:rPr b="1" sz="1200">
                <a:solidFill>
                  <a:srgbClr val="0C2461"/>
                </a:solidFill>
              </a:rPr>
              <a:t>• Name: </a:t>
            </a:r>
            <a:r>
              <a:rPr sz="1200">
                <a:solidFill>
                  <a:srgbClr val="2C3E50"/>
                </a:solidFill>
              </a:rPr>
              <a:t>Kamal Vigneshwaraa S</a:t>
            </a:r>
          </a:p>
          <a:p>
            <a:r>
              <a:rPr b="1" sz="1200">
                <a:solidFill>
                  <a:srgbClr val="0C2461"/>
                </a:solidFill>
              </a:rPr>
              <a:t>• Department: </a:t>
            </a:r>
            <a:r>
              <a:rPr sz="1200">
                <a:solidFill>
                  <a:srgbClr val="2C3E50"/>
                </a:solidFill>
              </a:rPr>
              <a:t>Information Technology</a:t>
            </a:r>
          </a:p>
          <a:p>
            <a:r>
              <a:rPr b="1" sz="1200">
                <a:solidFill>
                  <a:srgbClr val="0C2461"/>
                </a:solidFill>
              </a:rPr>
              <a:t>• College: </a:t>
            </a:r>
            <a:r>
              <a:rPr sz="1200">
                <a:solidFill>
                  <a:srgbClr val="2C3E50"/>
                </a:solidFill>
              </a:rPr>
              <a:t>Sri Sairam Institute of Technology, Chennai</a:t>
            </a:r>
          </a:p>
          <a:p>
            <a:r>
              <a:rPr b="1" sz="1200">
                <a:solidFill>
                  <a:srgbClr val="0C2461"/>
                </a:solidFill>
              </a:rPr>
              <a:t>• Domain: </a:t>
            </a:r>
            <a:r>
              <a:rPr sz="1200">
                <a:solidFill>
                  <a:srgbClr val="2C3E50"/>
                </a:solidFill>
              </a:rPr>
              <a:t>Wireless Protocol Development &amp; Graph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1. Executive Summary &amp; Solution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Shared Spectrum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Radio signals collide without scheduling.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Graph Brain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Builds physical &amp; conflict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DSATUR Engine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Colors conflict graph to optimize slots.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EMANE Profile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Generates XML profiles for emulator.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3799"/>
                </a:solidFill>
              </a:defRPr>
            </a:pPr>
            <a:r>
              <a:t>Core Project Deliverables &amp; Approach</a:t>
            </a:r>
          </a:p>
          <a:p>
            <a:pPr>
              <a:spcAft>
                <a:spcPts val="1000"/>
              </a:spcAft>
              <a:defRPr sz="1150">
                <a:solidFill>
                  <a:srgbClr val="2C3E50"/>
                </a:solidFill>
              </a:defRPr>
            </a:pPr>
            <a:r>
              <a:t>• Part 1 (Network Brain): Software engine using graph theory and distance-2 coloring for conflict-free scheduling.</a:t>
            </a:r>
          </a:p>
          <a:p>
            <a:pPr>
              <a:spcAft>
                <a:spcPts val="1000"/>
              </a:spcAft>
              <a:defRPr sz="1150">
                <a:solidFill>
                  <a:srgbClr val="2C3E50"/>
                </a:solidFill>
              </a:defRPr>
            </a:pPr>
            <a:r>
              <a:t>• Spatial Reuse Optimization: Maximize simultaneous non-interfering transmissions to minimize frame length.</a:t>
            </a:r>
          </a:p>
          <a:p>
            <a:pPr>
              <a:spcAft>
                <a:spcPts val="1000"/>
              </a:spcAft>
              <a:defRPr sz="1150">
                <a:solidFill>
                  <a:srgbClr val="2C3E50"/>
                </a:solidFill>
              </a:defRPr>
            </a:pPr>
            <a:r>
              <a:t>• Part 2 (Physical Emulator Bridge): Convert calculated schedule matrix into native EMANE TDMA Radio Model profiles.</a:t>
            </a:r>
          </a:p>
          <a:p>
            <a:pPr>
              <a:spcAft>
                <a:spcPts val="1000"/>
              </a:spcAft>
              <a:defRPr sz="1150">
                <a:solidFill>
                  <a:srgbClr val="2C3E50"/>
                </a:solidFill>
              </a:defRPr>
            </a:pPr>
            <a:r>
              <a:t>• Verification &amp; Containerization: 100% collision-free verification and Docker container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2. Core Wireless Concepts — TDMA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Frame Init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Time divided into recurring frames.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Slot Allocation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Discrete 1ms slots assigned per node.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Exclusive Tx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Node transmits exclusively in slot.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Clean Reception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Receivers receive uncorrupted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3799"/>
                </a:solidFill>
              </a:defRPr>
            </a:pPr>
            <a:r>
              <a:t>Key Operational Principles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Shared Radio Frequency: </a:t>
            </a:r>
            <a:r>
              <a:rPr sz="1100">
                <a:solidFill>
                  <a:srgbClr val="2C3E50"/>
                </a:solidFill>
              </a:rPr>
              <a:t>Multiple radio nodes communicate over the exact same frequency channel by sharing time.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Synchronized Time-Slots: </a:t>
            </a:r>
            <a:r>
              <a:rPr sz="1100">
                <a:solidFill>
                  <a:srgbClr val="2C3E50"/>
                </a:solidFill>
              </a:rPr>
              <a:t>Discrete, synchronized time-slots prevent simultaneous transmissions by adjacent radios.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Zero Receiver Collisions: </a:t>
            </a:r>
            <a:r>
              <a:rPr sz="1100">
                <a:solidFill>
                  <a:srgbClr val="2C3E50"/>
                </a:solidFill>
              </a:rPr>
              <a:t>Correct scheduling guarantees zero signal overlapping and clean packet delivery.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Clock Synchronization: </a:t>
            </a:r>
            <a:r>
              <a:rPr sz="1100">
                <a:solidFill>
                  <a:srgbClr val="2C3E50"/>
                </a:solidFill>
              </a:rPr>
              <a:t>All participating radios maintain tight clock sync for precise slot timing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3. Interference Classification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Radio Pair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Check node pair distance.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Dist &lt;= 500m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1-Hop Direct Link (Distance-1).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Common Neighbor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2-Hop Hidden Terminal (Distance-2).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Slot Decision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Assign distinct timeslots!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3931920" cy="4114800"/>
          </a:xfrm>
          <a:prstGeom prst="roundRect">
            <a:avLst/>
          </a:prstGeom>
          <a:solidFill>
            <a:srgbClr val="FFF0F0"/>
          </a:solidFill>
          <a:ln>
            <a:solidFill>
              <a:srgbClr val="EB4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C23616"/>
                </a:solidFill>
              </a:defRPr>
            </a:pPr>
            <a:r>
              <a:t>Direct Link (Distance-1)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Radios located directly within range (&lt;= 500m).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1-Hop Neighbors in physical graph.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Transmissions jam each other directly.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MUST be assigned different time-slots.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40280"/>
            <a:ext cx="3931920" cy="4114800"/>
          </a:xfrm>
          <a:prstGeom prst="roundRect">
            <a:avLst/>
          </a:prstGeom>
          <a:solidFill>
            <a:srgbClr val="FEF9E7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D35400"/>
                </a:solidFill>
              </a:defRPr>
            </a:pPr>
            <a:r>
              <a:t>Hidden Terminal (Distance-2)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Radios transmitting to common receiver (A -&gt; B &lt;- C).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2-Hop Neighbors in physical graph.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Signals collide at intermediate receiver B.</a:t>
            </a:r>
          </a:p>
          <a:p>
            <a:pPr>
              <a:spcAft>
                <a:spcPts val="600"/>
              </a:spcAft>
              <a:defRPr sz="1050">
                <a:solidFill>
                  <a:srgbClr val="2C3E50"/>
                </a:solidFill>
              </a:defRPr>
            </a:pPr>
            <a:r>
              <a:t>• MUST be assigned different time-slots.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4. Spatial Reuse Decision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Distance Check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Shortest path distance &gt; 2 hops.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Interference Check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Zero signal overlap at any receiver.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Slot Re-allocation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Safe timeslot reuse across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Capacity Boost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Dramatically increased network throughput!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EAFAE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8449"/>
                </a:solidFill>
              </a:defRPr>
            </a:pPr>
            <a:r>
              <a:t>Benefits of Spatial Reuse Optimization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No Receiver Collision: </a:t>
            </a:r>
            <a:r>
              <a:rPr sz="1100">
                <a:solidFill>
                  <a:srgbClr val="2C3E50"/>
                </a:solidFill>
              </a:rPr>
              <a:t>Radios separated by &gt; 2 hops cause zero signal interference at receivers.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Frame Length Minimization: </a:t>
            </a:r>
            <a:r>
              <a:rPr sz="1100">
                <a:solidFill>
                  <a:srgbClr val="2C3E50"/>
                </a:solidFill>
              </a:rPr>
              <a:t>Reduces total unique time-slots required per frame (e.g. 16 nodes in 9 slots).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Throughput Multiplication: </a:t>
            </a:r>
            <a:r>
              <a:rPr sz="1100">
                <a:solidFill>
                  <a:srgbClr val="2C3E50"/>
                </a:solidFill>
              </a:rPr>
              <a:t>Multiple radios transmit simultaneously in parallel across the network.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NP-Hard Optimization: </a:t>
            </a:r>
            <a:r>
              <a:rPr sz="1100">
                <a:solidFill>
                  <a:srgbClr val="2C3E50"/>
                </a:solidFill>
              </a:rPr>
              <a:t>Calculates optimal spatial reuse using intelligent graph coloring heuristics.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5. System Architecture &amp; 5-Stage Processing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00" b="1">
                <a:solidFill>
                  <a:srgbClr val="1E3799"/>
                </a:solidFill>
              </a:defRPr>
            </a:pPr>
            <a:r>
              <a:t>1. Stage 1: Input Data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Receives 2D coordinates for all radio nodes and configures radio range (500m).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8229600" cy="9144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00" b="1">
                <a:solidFill>
                  <a:srgbClr val="1E3799"/>
                </a:solidFill>
              </a:defRPr>
            </a:pPr>
            <a:r>
              <a:t>2. Stage 2: Graph Build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Constructs Physical Graph G (1-hop links) &amp; Distance-2 Conflict Graph G_conflict.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8229600" cy="9144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00" b="1">
                <a:solidFill>
                  <a:srgbClr val="1E3799"/>
                </a:solidFill>
              </a:defRPr>
            </a:pPr>
            <a:r>
              <a:t>3. Stage 3: DSATUR Engine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Executes DSATUR graph coloring algorithm to assign non-conflicting slots.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9144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00" b="1">
                <a:solidFill>
                  <a:srgbClr val="1E3799"/>
                </a:solidFill>
              </a:defRPr>
            </a:pPr>
            <a:r>
              <a:t>4. Stage 4: Verification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Performs 100% collision verification check for all 1-hop and 2-hop neighbor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9144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300" b="1">
                <a:solidFill>
                  <a:srgbClr val="1E3799"/>
                </a:solidFill>
              </a:defRPr>
            </a:pPr>
            <a:r>
              <a:t>5. Stage 5: EMANE Bridge</a:t>
            </a:r>
          </a:p>
          <a:p>
            <a:pPr>
              <a:defRPr sz="1050">
                <a:solidFill>
                  <a:srgbClr val="2C3E50"/>
                </a:solidFill>
              </a:defRPr>
            </a:pPr>
            <a:r>
              <a:t>Translates schedule matrix into native EMANE XML configuration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6. Part 1 — DSATUR Graph Coloring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Build G_conflict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Add edge if shortest path is 1 or 2 hops.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Track Saturation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Count neighbor assigned colors.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Pick Max Priority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Select uncolored node with max saturation.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Assign Color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Assign lowest valid integer color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3799"/>
                </a:solidFill>
              </a:defRPr>
            </a:pPr>
            <a:r>
              <a:t>Mathematical Graph Coloring Principles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Physical Graph G = (V, E): </a:t>
            </a:r>
            <a:r>
              <a:rPr sz="1100">
                <a:solidFill>
                  <a:srgbClr val="2C3E50"/>
                </a:solidFill>
              </a:rPr>
              <a:t>Vertices represent radios, edges represent 1-hop physical links (&lt;= 500m).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Conflict Graph G_conflict: </a:t>
            </a:r>
            <a:r>
              <a:rPr sz="1100">
                <a:solidFill>
                  <a:srgbClr val="2C3E50"/>
                </a:solidFill>
              </a:rPr>
              <a:t>Edge added if path is 1 or 2 hops. Nodes &gt; 2 hops share no edge (allows spatial reuse).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Saturation Degree Metric: </a:t>
            </a:r>
            <a:r>
              <a:rPr sz="1100">
                <a:solidFill>
                  <a:srgbClr val="2C3E50"/>
                </a:solidFill>
              </a:rPr>
              <a:t>Dynamic priority metric tracking number of distinct colors assigned to neighbors.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Lowest Valid Color: </a:t>
            </a:r>
            <a:r>
              <a:rPr sz="1100">
                <a:solidFill>
                  <a:srgbClr val="2C3E50"/>
                </a:solidFill>
              </a:rPr>
              <a:t>Assigns lowest integer color index {0, 1, 2, ...} not used by neighbors in G_conflict.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7. Part 1 — Verification &amp; Report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Exhaustive Pair Check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Check all 1-hop &amp; 2-hop pairs.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Collision Freedom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Confirm zero shared timeslots.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Frame Optimization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Verify minimal frame length.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Matrix Output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Generate Slot x Node Boolean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EAFAE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45A32"/>
                </a:solidFill>
              </a:defRPr>
            </a:pPr>
            <a:r>
              <a:t>Verification Engine Outcomes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100% Conflict-Free Verification: </a:t>
            </a:r>
            <a:r>
              <a:rPr sz="1100">
                <a:solidFill>
                  <a:srgbClr val="2C3E50"/>
                </a:solidFill>
              </a:rPr>
              <a:t>Exhaustively verifies all 1-hop and 2-hop node pairs across topology.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Zero Receiver Collisions: </a:t>
            </a:r>
            <a:r>
              <a:rPr sz="1100">
                <a:solidFill>
                  <a:srgbClr val="2C3E50"/>
                </a:solidFill>
              </a:rPr>
              <a:t>Guarantees zero direct link and zero hidden terminal collisions.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Optimized Frame Length: </a:t>
            </a:r>
            <a:r>
              <a:rPr sz="1100">
                <a:solidFill>
                  <a:srgbClr val="2C3E50"/>
                </a:solidFill>
              </a:rPr>
              <a:t>Reduces 16-node grid frame length down to 9 unique timeslots.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Structural Matrix Representation: </a:t>
            </a:r>
            <a:r>
              <a:rPr sz="1100">
                <a:solidFill>
                  <a:srgbClr val="2C3E50"/>
                </a:solidFill>
              </a:rPr>
              <a:t>Produces formatted Slot x Node Boolean schedule matrix representation.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45A32"/>
                </a:solidFill>
              </a:rPr>
              <a:t>• Clean Execution Status: </a:t>
            </a:r>
            <a:r>
              <a:rPr sz="1100">
                <a:solidFill>
                  <a:srgbClr val="2C3E50"/>
                </a:solidFill>
              </a:rPr>
              <a:t>Reports confirmation: Execution finalized cleanly. Schedule verified conflict-free.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8. Part 2 — EMANE Integration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Schedule Matrix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Receive Python calculated slots.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XML Profile Generator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Create 1ms slots &amp; NEM tx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Multicast Event Bridge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Publish events to EMANE daemon.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Docker Container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Single-command deployment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3799"/>
                </a:solidFill>
              </a:defRPr>
            </a:pPr>
            <a:r>
              <a:t>EMANE Emulation Integration Details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EMANE Emulation Framework: </a:t>
            </a:r>
            <a:r>
              <a:rPr sz="1100">
                <a:solidFill>
                  <a:srgbClr val="2C3E50"/>
                </a:solidFill>
              </a:rPr>
              <a:t>Extendable Mobile Ad-hoc Network Emulator for real-time wireless protocol testing.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Native Profile Generation: </a:t>
            </a:r>
            <a:r>
              <a:rPr sz="1100">
                <a:solidFill>
                  <a:srgbClr val="2C3E50"/>
                </a:solidFill>
              </a:rPr>
              <a:t>Translates node-to-slot mapping into native XML schedule profiles.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1ms Slot &amp; NEM Mapping: </a:t>
            </a:r>
            <a:r>
              <a:rPr sz="1100">
                <a:solidFill>
                  <a:srgbClr val="2C3E50"/>
                </a:solidFill>
              </a:rPr>
              <a:t>Configures 1ms slot duration, 1MHz bandwidth, 2.4GHz frequency, per-NEM slots.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Multicast Event Publisher: </a:t>
            </a:r>
            <a:r>
              <a:rPr sz="1100">
                <a:solidFill>
                  <a:srgbClr val="2C3E50"/>
                </a:solidFill>
              </a:rPr>
              <a:t>Broadcasts schedule updates to EMANE event daemons over UDP multicast.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Docker Containerization: </a:t>
            </a:r>
            <a:r>
              <a:rPr sz="1100">
                <a:solidFill>
                  <a:srgbClr val="2C3E50"/>
                </a:solidFill>
              </a:rPr>
              <a:t>Consolidated Dockerfile &amp; Docker Compose configuration for containerized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799"/>
          </a:solidFill>
          <a:ln>
            <a:solidFill>
              <a:srgbClr val="1E3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9. Conclusion &amp; Project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1. Math Optimization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Graph coloring with spatial reuse.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2. Zero Collisions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Distance-1 &amp; Distance-2 eliminated.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3. EMANE Integration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Native XML profiles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920240" cy="105156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E3799"/>
                </a:solidFill>
              </a:defRPr>
            </a:pPr>
            <a:r>
              <a:t>4. Real Deployment</a:t>
            </a:r>
          </a:p>
          <a:p>
            <a:pPr algn="ctr">
              <a:defRPr sz="950">
                <a:solidFill>
                  <a:srgbClr val="2C3E50"/>
                </a:solidFill>
              </a:defRPr>
            </a:pPr>
            <a:r>
              <a:t>Applicable to 5G &amp; MANET tactical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8229600" cy="4114800"/>
          </a:xfrm>
          <a:prstGeom prst="roundRect">
            <a:avLst/>
          </a:prstGeom>
          <a:solidFill>
            <a:srgbClr val="E8F4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500" b="1">
                <a:solidFill>
                  <a:srgbClr val="1E3799"/>
                </a:solidFill>
              </a:defRPr>
            </a:pPr>
            <a:r>
              <a:t>Summary of Achievements &amp; Impact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Complete Solution: </a:t>
            </a:r>
            <a:r>
              <a:rPr sz="1100">
                <a:solidFill>
                  <a:srgbClr val="2C3E50"/>
                </a:solidFill>
              </a:rPr>
              <a:t>Successfully solved both Part 1 (Network Brain Engine) and Part 2 (EMANE Physical Emulator Bridge).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Mathematical Collision Freedom: </a:t>
            </a:r>
            <a:r>
              <a:rPr sz="1100">
                <a:solidFill>
                  <a:srgbClr val="2C3E50"/>
                </a:solidFill>
              </a:rPr>
              <a:t>Eliminated direct link and hidden terminal collisions completely.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Optimal Spatial Reuse: </a:t>
            </a:r>
            <a:r>
              <a:rPr sz="1100">
                <a:solidFill>
                  <a:srgbClr val="2C3E50"/>
                </a:solidFill>
              </a:rPr>
              <a:t>Maximized parallel non-interfering transmissions, reducing total frame length.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Standardized Output: </a:t>
            </a:r>
            <a:r>
              <a:rPr sz="1100">
                <a:solidFill>
                  <a:srgbClr val="2C3E50"/>
                </a:solidFill>
              </a:rPr>
              <a:t>Seamless integration with EMANE emulation environment.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C2461"/>
                </a:solidFill>
              </a:rPr>
              <a:t>• Real-World Application: </a:t>
            </a:r>
            <a:r>
              <a:rPr sz="1100">
                <a:solidFill>
                  <a:srgbClr val="2C3E50"/>
                </a:solidFill>
              </a:rPr>
              <a:t>Directly applicable to 5G private networks, MANET tactical communications, and SDR mesh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